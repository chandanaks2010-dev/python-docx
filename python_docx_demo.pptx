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37393E-714F-486E-8588-A3B54589CFBF}" v="29" dt="2026-06-16T13:49:34.6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90" y="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sh kumar, Chandana" userId="d381b649-607d-4402-8151-ba72a0570001" providerId="ADAL" clId="{6D98DD82-D950-4A70-9541-EF8697BDC591}"/>
    <pc:docChg chg="modSld">
      <pc:chgData name="Shesh kumar, Chandana" userId="d381b649-607d-4402-8151-ba72a0570001" providerId="ADAL" clId="{6D98DD82-D950-4A70-9541-EF8697BDC591}" dt="2026-06-16T13:49:34.638" v="20"/>
      <pc:docMkLst>
        <pc:docMk/>
      </pc:docMkLst>
      <pc:sldChg chg="setBg">
        <pc:chgData name="Shesh kumar, Chandana" userId="d381b649-607d-4402-8151-ba72a0570001" providerId="ADAL" clId="{6D98DD82-D950-4A70-9541-EF8697BDC591}" dt="2026-06-16T13:49:34.638" v="20"/>
        <pc:sldMkLst>
          <pc:docMk/>
          <pc:sldMk cId="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02698-4DD2-3B17-CC26-B8E5C2686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5BE2D0-AB07-689A-85D5-A7B6C8ADB0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F126B-D590-0F98-257C-68AA2EE36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21ECC-866B-1D9F-EE1B-892C07C22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1A8D7-5679-C4A9-F74B-088F4D63D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033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23E2C-3166-4E0F-8D89-0A94B8A92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ED386-C30B-E960-D71D-CA2D58329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A3A86-A84A-42C8-ABAA-9D9A98FD1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B4D42-99E4-40D4-6A7F-D510B0B20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314DE-CB36-A69D-3685-50C6C8050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30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9DD13-F326-98CB-DCFD-86FC5BCCB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72EDA-C3E0-7195-A89C-2F130F669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82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82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82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E9FCC-3628-ADDA-C58C-B4D6C1C68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2A4CC-E3A4-5F64-948A-F8EC5AEB1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C6D5B-A1A4-25E7-17F7-6B509A471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244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1665B-ABF8-87BF-28FC-0A80410F2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6B046-02D1-CDF5-608B-3E19B28D32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64BB06-5EBE-17AA-DC16-66484FCCE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D7BDB4-5C60-561B-5C76-CAD7B1539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DAF87-F70A-9A69-47B1-31009054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E3881-6CB0-3EF2-E802-56D63EAE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952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3B97B-3955-CEF4-7D31-B64FDFE22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F0D22-D525-42E9-D83F-C4A7BB80D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F627C-1F7B-AB0F-C95B-355EBB9B0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724EE5-AE53-8E2F-818A-663B659AAD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779ED2-11F2-9C15-7F1A-C8CB451747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B773D8-5C18-6BA1-44F3-69FE5557C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BC8CB2-3BCD-BCCB-8DA6-9963DB803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C11159-FD08-5B2A-5AC8-979067FCF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027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507D4-171A-A695-39DE-CB6CC6CAB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2662F6-E0FA-ED93-9A5E-EE81A06BE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176569-66F5-40E2-5F17-F4AC0F9D3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F140C-3EC9-242B-6D28-EDEF5A9B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870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D04934-1735-62AD-8E64-42B98E59A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44D33E-6E78-4AC7-599D-9D003C162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9DFD3-C660-47B1-C004-4F8230CB3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77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30D5A-13CF-5C8A-DC4A-1E128B949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003A8-7FD1-8492-9C71-A07A1EA47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1F3BA6-8D3F-A6B0-679A-8107750AEF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F61708-0ED6-ACD1-6D46-EF0C6A763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F042F9-A07B-EE3F-AED1-CC9F6D60E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E7AFDD-BB2B-6987-6963-6889455BC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459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93F78-AEB9-8F23-599A-C67F85A36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D1E82A-19F7-F82C-4B5D-6B076AE1BB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8B5791-22C7-2B3D-E8BD-E5C7A494A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972FA9-4AC0-2CED-A4CE-649A73371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29EBE-CD2A-7BB0-1A4B-90AD12165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1F605-FDF6-1F73-38F6-2001FE9F7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765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ACE89-39FD-2861-5C01-4CF030086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07EF14-E23A-643D-67E7-06A38935B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992E1-552A-3592-90F3-EC76BF505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7B680-11F7-B2BA-5504-09CCFA7D8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BD431-21B7-0758-E3ED-159F33196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920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8CE6FE-7BF0-5B7F-F228-04D4856C7F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E6C543-4BD8-1B95-5BA2-F80F0BFC5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A3E9D-F8C0-F7CC-7962-042D261EF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2B07F-31DA-4F8E-385A-EA12A96F8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DDDC9-845E-6424-8A1E-69C185385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74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CFA7B0-3AE7-B345-2DD9-791308F26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38B30-BF2A-EEFD-DDE4-DE09AF6E5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F968D-85D6-A387-F01D-66216150C7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E4D02-8349-0420-564F-A70DCB599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B0EEB-340D-F409-9B98-CC2BA36CE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064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python-docx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196F3"/>
                </a:solidFill>
              </a:rPr>
              <a:t>Automating Word Documents with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CC"/>
                </a:solidFill>
              </a:rPr>
              <a:t>10 Features  ·  Live Demo  ·  Real Use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50292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A5D6A7"/>
                </a:solidFill>
              </a:rPr>
              <a:t>pip install python-docx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 is python-docx?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1E2A3A"/>
                </a:solidFill>
              </a:rPr>
              <a:t>▸ Open-source Python library to create, read &amp; modify .docx files</a:t>
            </a:r>
          </a:p>
          <a:p>
            <a:pPr algn="l"/>
            <a:r>
              <a:rPr sz="1800">
                <a:solidFill>
                  <a:srgbClr val="1E2A3A"/>
                </a:solidFill>
              </a:rPr>
              <a:t>▸ No Microsoft Word installation required</a:t>
            </a:r>
          </a:p>
          <a:p>
            <a:pPr algn="l"/>
            <a:r>
              <a:rPr sz="1800">
                <a:solidFill>
                  <a:srgbClr val="1E2A3A"/>
                </a:solidFill>
              </a:rPr>
              <a:t>▸ Cross-platform — Windows, macOS, Linux</a:t>
            </a:r>
          </a:p>
          <a:p>
            <a:pPr algn="l"/>
            <a:r>
              <a:rPr sz="1800">
                <a:solidFill>
                  <a:srgbClr val="1E2A3A"/>
                </a:solidFill>
              </a:rPr>
              <a:t>▸ Handles paragraphs, headings, tables, images, lists, fonts &amp; more</a:t>
            </a:r>
          </a:p>
          <a:p>
            <a:pPr algn="l"/>
            <a:r>
              <a:rPr sz="1800">
                <a:solidFill>
                  <a:srgbClr val="1E2A3A"/>
                </a:solidFill>
              </a:rPr>
              <a:t>▸ Ideal for automating document generation in any Python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645920"/>
            <a:ext cx="3566160" cy="10058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21040" y="1691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</a:rPr>
              <a:t>Install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9659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5D6A7"/>
                </a:solidFill>
              </a:rPr>
              <a:t>pip install python-docx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2926080"/>
            <a:ext cx="3566160" cy="10058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29718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</a:rPr>
              <a:t>Import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2461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5D6A7"/>
                </a:solidFill>
              </a:rPr>
              <a:t>from docx import Document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10 Features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685800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Create Document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196F3"/>
                </a:solidFill>
              </a:rPr>
              <a:t>Document()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40280"/>
            <a:ext cx="685800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224028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Headings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196F3"/>
                </a:solidFill>
              </a:rPr>
              <a:t>add_heading(text, level)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91840"/>
            <a:ext cx="685800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329184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291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Paragraphs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611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196F3"/>
                </a:solidFill>
              </a:rPr>
              <a:t>add_paragraph(text)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343400"/>
            <a:ext cx="685800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434340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343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Bold / Italic / Underline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196F3"/>
                </a:solidFill>
              </a:rPr>
              <a:t>run.bold / run.italic / run.underline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394960"/>
            <a:ext cx="685800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539496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394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Font Size &amp; Color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715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196F3"/>
                </a:solidFill>
              </a:rPr>
              <a:t>run.font.size = Pt()  |  run.font.color.rgb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188720"/>
            <a:ext cx="685800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118872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1188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Alignment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196F3"/>
                </a:solidFill>
              </a:rPr>
              <a:t>paragraph.alignment = WD_PARAGRAPH_ALIGNMENT.CENTER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240280"/>
            <a:ext cx="685800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0" y="224028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2240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Lists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196F3"/>
                </a:solidFill>
              </a:rPr>
              <a:t>add_paragraph(style='List Bullet / List Number')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291840"/>
            <a:ext cx="685800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17920" y="329184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3291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Tables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3611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196F3"/>
                </a:solidFill>
              </a:rPr>
              <a:t>add_table(rows, cols)  →  cell.text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4343400"/>
            <a:ext cx="685800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7920" y="434340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4343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Images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196F3"/>
                </a:solidFill>
              </a:rPr>
              <a:t>add_picture(path, width=Inches())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5394960"/>
            <a:ext cx="685800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17920" y="539496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5394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Save &amp; Export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5715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196F3"/>
                </a:solidFill>
              </a:rPr>
              <a:t>doc.save('output.docx')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822960" cy="65836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F01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Create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640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196F3"/>
                </a:solidFill>
              </a:rPr>
              <a:t>doc = Document()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A"/>
                </a:solidFill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E2A3A"/>
                </a:solidFill>
              </a:rPr>
              <a:t>▸ Creates a new blank Word document in memory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Returns a Document object — the root of everything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Can also open an existing file: Document('file.docx')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All other features work on this object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1887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A"/>
                </a:solidFill>
              </a:rPr>
              <a:t>python-docx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508760"/>
            <a:ext cx="5852160" cy="46634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160020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A5D6A7"/>
                </a:solidFill>
                <a:latin typeface="Courier New"/>
              </a:rPr>
              <a:t>from docx import Document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# Create a new blank document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doc = Document()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# Or open an existing one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doc = Document('existing.docx')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# Document is now ready to add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822960" cy="65836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F02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Headings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640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196F3"/>
                </a:solidFill>
              </a:rPr>
              <a:t>doc.add_heading(text, level=1)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A"/>
                </a:solidFill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E2A3A"/>
                </a:solidFill>
              </a:rPr>
              <a:t>▸ Adds a heading paragraph to the document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level=0  →  Title style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level=1  →  Heading 1  (largest)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level=2  →  Heading 2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level=3  →  Heading 3  (smallest)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Headings are used by Word to build Table of Contents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1887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A"/>
                </a:solidFill>
              </a:rPr>
              <a:t>python-docx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508760"/>
            <a:ext cx="5852160" cy="46634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160020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A5D6A7"/>
                </a:solidFill>
                <a:latin typeface="Courier New"/>
              </a:rPr>
              <a:t>from docx import Document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doc = Document()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# Title (level 0)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doc.add_heading('My Report', level=0)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# Section headings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doc.add_heading('Introduction', level=1)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doc.add_heading('Background',   level=2)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doc.add_heading('Details',      level=3)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doc.save('headings.docx')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822960" cy="65836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F03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Paragraphs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640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196F3"/>
                </a:solidFill>
              </a:rPr>
              <a:t>doc.add_paragraph(text)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A"/>
                </a:solidFill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E2A3A"/>
                </a:solidFill>
              </a:rPr>
              <a:t>▸ Adds a body text paragraph to the document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Returns a Paragraph object for further formatting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Runs inside a paragraph hold the actual text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Multiple runs in one paragraph = mixed formatting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Spacing before/after can be set via paragraph_format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1887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A"/>
                </a:solidFill>
              </a:rPr>
              <a:t>python-docx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508760"/>
            <a:ext cx="5852160" cy="46634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160020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dirty="0">
                <a:solidFill>
                  <a:srgbClr val="A5D6A7"/>
                </a:solidFill>
                <a:latin typeface="Courier New"/>
              </a:rPr>
              <a:t>from docx import Document</a:t>
            </a:r>
          </a:p>
          <a:p>
            <a:endParaRPr sz="1500" dirty="0">
              <a:solidFill>
                <a:srgbClr val="A5D6A7"/>
              </a:solidFill>
              <a:latin typeface="Courier New"/>
            </a:endParaRPr>
          </a:p>
          <a:p>
            <a:r>
              <a:rPr sz="1500" dirty="0">
                <a:solidFill>
                  <a:srgbClr val="A5D6A7"/>
                </a:solidFill>
                <a:latin typeface="Courier New"/>
              </a:rPr>
              <a:t>doc = Document()</a:t>
            </a:r>
          </a:p>
          <a:p>
            <a:endParaRPr sz="1500" dirty="0">
              <a:solidFill>
                <a:srgbClr val="A5D6A7"/>
              </a:solidFill>
              <a:latin typeface="Courier New"/>
            </a:endParaRPr>
          </a:p>
          <a:p>
            <a:r>
              <a:rPr sz="1500" dirty="0">
                <a:solidFill>
                  <a:srgbClr val="A5D6A7"/>
                </a:solidFill>
                <a:latin typeface="Courier New"/>
              </a:rPr>
              <a:t># Simple paragraph</a:t>
            </a:r>
          </a:p>
          <a:p>
            <a:r>
              <a:rPr sz="1500" dirty="0" err="1">
                <a:solidFill>
                  <a:srgbClr val="A5D6A7"/>
                </a:solidFill>
                <a:latin typeface="Courier New"/>
              </a:rPr>
              <a:t>doc.add_paragraph</a:t>
            </a:r>
            <a:r>
              <a:rPr sz="1500" dirty="0">
                <a:solidFill>
                  <a:srgbClr val="A5D6A7"/>
                </a:solidFill>
                <a:latin typeface="Courier New"/>
              </a:rPr>
              <a:t>('Hello, World!')</a:t>
            </a:r>
          </a:p>
          <a:p>
            <a:endParaRPr sz="1500" dirty="0">
              <a:solidFill>
                <a:srgbClr val="A5D6A7"/>
              </a:solidFill>
              <a:latin typeface="Courier New"/>
            </a:endParaRPr>
          </a:p>
          <a:p>
            <a:r>
              <a:rPr sz="1500" dirty="0">
                <a:solidFill>
                  <a:srgbClr val="A5D6A7"/>
                </a:solidFill>
                <a:latin typeface="Courier New"/>
              </a:rPr>
              <a:t># Paragraph with a run for fine-grained control</a:t>
            </a:r>
          </a:p>
          <a:p>
            <a:r>
              <a:rPr sz="1500" dirty="0">
                <a:solidFill>
                  <a:srgbClr val="A5D6A7"/>
                </a:solidFill>
                <a:latin typeface="Courier New"/>
              </a:rPr>
              <a:t>p   = </a:t>
            </a:r>
            <a:r>
              <a:rPr sz="1500" dirty="0" err="1">
                <a:solidFill>
                  <a:srgbClr val="A5D6A7"/>
                </a:solidFill>
                <a:latin typeface="Courier New"/>
              </a:rPr>
              <a:t>doc.add_paragraph</a:t>
            </a:r>
            <a:r>
              <a:rPr sz="1500" dirty="0">
                <a:solidFill>
                  <a:srgbClr val="A5D6A7"/>
                </a:solidFill>
                <a:latin typeface="Courier New"/>
              </a:rPr>
              <a:t>()</a:t>
            </a:r>
          </a:p>
          <a:p>
            <a:r>
              <a:rPr sz="1500" dirty="0">
                <a:solidFill>
                  <a:srgbClr val="A5D6A7"/>
                </a:solidFill>
                <a:latin typeface="Courier New"/>
              </a:rPr>
              <a:t>run = </a:t>
            </a:r>
            <a:r>
              <a:rPr sz="1500" dirty="0" err="1">
                <a:solidFill>
                  <a:srgbClr val="A5D6A7"/>
                </a:solidFill>
                <a:latin typeface="Courier New"/>
              </a:rPr>
              <a:t>p.add_run</a:t>
            </a:r>
            <a:r>
              <a:rPr sz="1500" dirty="0">
                <a:solidFill>
                  <a:srgbClr val="A5D6A7"/>
                </a:solidFill>
                <a:latin typeface="Courier New"/>
              </a:rPr>
              <a:t>('This is formatted text.')</a:t>
            </a:r>
          </a:p>
          <a:p>
            <a:endParaRPr sz="1500" dirty="0">
              <a:solidFill>
                <a:srgbClr val="A5D6A7"/>
              </a:solidFill>
              <a:latin typeface="Courier New"/>
            </a:endParaRPr>
          </a:p>
          <a:p>
            <a:r>
              <a:rPr sz="1500" dirty="0">
                <a:solidFill>
                  <a:srgbClr val="A5D6A7"/>
                </a:solidFill>
                <a:latin typeface="Courier New"/>
              </a:rPr>
              <a:t># Paragraph spacing</a:t>
            </a:r>
          </a:p>
          <a:p>
            <a:r>
              <a:rPr sz="1500" dirty="0" err="1">
                <a:solidFill>
                  <a:srgbClr val="A5D6A7"/>
                </a:solidFill>
                <a:latin typeface="Courier New"/>
              </a:rPr>
              <a:t>p.paragraph_format.space_after</a:t>
            </a:r>
            <a:r>
              <a:rPr sz="1500" dirty="0">
                <a:solidFill>
                  <a:srgbClr val="A5D6A7"/>
                </a:solidFill>
                <a:latin typeface="Courier New"/>
              </a:rPr>
              <a:t> = Pt(12)</a:t>
            </a:r>
          </a:p>
          <a:p>
            <a:endParaRPr sz="1500" dirty="0">
              <a:solidFill>
                <a:srgbClr val="A5D6A7"/>
              </a:solidFill>
              <a:latin typeface="Courier New"/>
            </a:endParaRPr>
          </a:p>
          <a:p>
            <a:r>
              <a:rPr sz="1500" dirty="0" err="1">
                <a:solidFill>
                  <a:srgbClr val="A5D6A7"/>
                </a:solidFill>
                <a:latin typeface="Courier New"/>
              </a:rPr>
              <a:t>doc.save</a:t>
            </a:r>
            <a:r>
              <a:rPr sz="1500" dirty="0">
                <a:solidFill>
                  <a:srgbClr val="A5D6A7"/>
                </a:solidFill>
                <a:latin typeface="Courier New"/>
              </a:rPr>
              <a:t>('paragraphs.docx')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822960" cy="65836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F04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Bold / Italic / Underline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640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196F3"/>
                </a:solidFill>
              </a:rPr>
              <a:t>run.bold  ·  run.italic  ·  run.underline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A"/>
                </a:solidFill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E2A3A"/>
                </a:solidFill>
              </a:rPr>
              <a:t>▸ Formatting is applied at the Run level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A Run is a contiguous piece of text with the same style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Set to True to enable, False to disable, None to inherit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Multiple runs in one paragraph = mixed styles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1887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A"/>
                </a:solidFill>
              </a:rPr>
              <a:t>python-docx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508760"/>
            <a:ext cx="5852160" cy="46634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160020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A5D6A7"/>
                </a:solidFill>
                <a:latin typeface="Courier New"/>
              </a:rPr>
              <a:t>from docx import Document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doc = Document()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p   = doc.add_paragraph()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run1 = p.add_run('Bold text ')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run1.bold = True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run2 = p.add_run('Italic text ')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run2.italic = True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run3 = p.add_run('Underlined text')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run3.underline = True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doc.save('formatting.docx')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822960" cy="65836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F05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Font Size &amp; Color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640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196F3"/>
                </a:solidFill>
              </a:rPr>
              <a:t>run.font.size = Pt(n)  ·  run.font.color.rgb = RGBColor(r, g, 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A"/>
                </a:solidFill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E2A3A"/>
                </a:solidFill>
              </a:rPr>
              <a:t>▸ Font properties live on run.font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Pt() converts points to Word's internal EMU units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RGBColor accepts 3 integers (0–255) for R, G, B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Hex strings can be parsed with int('FF', 16)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Font name: run.font.name = 'Arial'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1887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A"/>
                </a:solidFill>
              </a:rPr>
              <a:t>python-docx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508760"/>
            <a:ext cx="5852160" cy="46634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160020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A5D6A7"/>
                </a:solidFill>
                <a:latin typeface="Courier New"/>
              </a:rPr>
              <a:t>from docx import Document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from docx.shared import Pt, RGBColor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doc = Document()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p   = doc.add_paragraph()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run = p.add_run('Styled text')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# Font size: 18pt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run.font.size = Pt(18)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# Font color: blue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run.font.color.rgb = RGBColor(0x21, 0x96, 0xF3)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# Font face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run.font.name = 'Arial'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doc.save('font.docx')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822960" cy="65836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F06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Alignment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640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196F3"/>
                </a:solidFill>
              </a:rPr>
              <a:t>paragraph.alignment = WD_PARAGRAPH_ALIGNMENT.CENTER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A"/>
                </a:solidFill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E2A3A"/>
                </a:solidFill>
              </a:rPr>
              <a:t>▸ Alignment is set at the Paragraph level, not the Run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LEFT  · CENTER  · RIGHT  · JUSTIFY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Import from docx.enum.text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Applies to headings, paragraphs, list items, table cells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Image alignment: set on the paragraph add_picture() creates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1887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A"/>
                </a:solidFill>
              </a:rPr>
              <a:t>python-docx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508760"/>
            <a:ext cx="5852160" cy="46634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160020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A5D6A7"/>
                </a:solidFill>
                <a:latin typeface="Courier New"/>
              </a:rPr>
              <a:t>from docx import Document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from docx.enum.text import WD_PARAGRAPH_ALIGNMENT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doc = Document()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p = doc.add_paragraph('Centered text')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p.alignment = WD_PARAGRAPH_ALIGNMENT.CENTER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p2 = doc.add_paragraph('Right-aligned')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p2.alignment = WD_PARAGRAPH_ALIGNMENT.RIGHT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p3 = doc.add_paragraph('Justified')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p3.alignment = WD_PARAGRAPH_ALIGNMENT.JUSTIFY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doc.save('alignment.docx')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822960" cy="65836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F07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Bullet &amp; Numbered Lists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640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196F3"/>
                </a:solidFill>
              </a:rPr>
              <a:t>doc.add_paragraph(text, style='List Bullet')  /  'List Number'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A"/>
                </a:solidFill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E2A3A"/>
                </a:solidFill>
              </a:rPr>
              <a:t>▸ Lists use built-in Word paragraph styles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'List Bullet'  →  • unordered list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'List Number'  →  1. 2. 3. ordered list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Formatting (bold, color, size) applies per run inside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Alignment can be set on the paragraph object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1887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A"/>
                </a:solidFill>
              </a:rPr>
              <a:t>python-docx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508760"/>
            <a:ext cx="5852160" cy="46634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160020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A5D6A7"/>
                </a:solidFill>
                <a:latin typeface="Courier New"/>
              </a:rPr>
              <a:t>from docx import Document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doc = Document()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# Bullet list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for item in ['Apples', 'Bananas', 'Cherries']: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    doc.add_paragraph(item, style='List Bullet')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# Numbered list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for item in ['Step one', 'Step two', 'Step three']: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    doc.add_paragraph(item, style='List Number')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doc.save('lists.docx')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822960" cy="65836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F08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640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196F3"/>
                </a:solidFill>
              </a:rPr>
              <a:t>table = doc.add_table(rows=n, cols=m)  →  table.cell(r, c).text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A"/>
                </a:solidFill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E2A3A"/>
                </a:solidFill>
              </a:rPr>
              <a:t>▸ Creates a grid of rows × columns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Access individual cells via table.cell(row, col)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Each cell contains paragraphs → runs for formatting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table.style = 'Table Grid' for visible borders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Merge cells: cell_a.merge(cell_b)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1887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A"/>
                </a:solidFill>
              </a:rPr>
              <a:t>python-docx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508760"/>
            <a:ext cx="5852160" cy="46634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160020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A5D6A7"/>
                </a:solidFill>
                <a:latin typeface="Courier New"/>
              </a:rPr>
              <a:t>from docx import Document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doc   = Document()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table = doc.add_table(rows=3, cols=3)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table.style = 'Table Grid'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data = [['Name',  'Role',    'Team'],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        ['Alice', 'Dev',     'Backend'],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        ['Bob',   'Designer','Frontend']]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for r, row in enumerate(data):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    for c, text in enumerate(row):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        cell = table.cell(r, c)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        cell.text = ''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        cell.paragraphs[0].add_run(text).bold = (r == 0)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doc.save('tables.docx')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822960" cy="65836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F09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640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196F3"/>
                </a:solidFill>
              </a:rPr>
              <a:t>doc.add_picture(image_path, width=Inches(n))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A"/>
                </a:solidFill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E2A3A"/>
                </a:solidFill>
              </a:rPr>
              <a:t>▸ Inserts an image (PNG, JPG, GIF, BMP) into the document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Width/height specified with Inches() or Cm()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Omit one dimension → aspect ratio is preserved automatically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Image lives in a paragraph — set alignment on that paragraph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Supports BytesIO for in-memory images (no file needed)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1887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A"/>
                </a:solidFill>
              </a:rPr>
              <a:t>python-docx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508760"/>
            <a:ext cx="5852160" cy="46634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160020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A5D6A7"/>
                </a:solidFill>
                <a:latin typeface="Courier New"/>
              </a:rPr>
              <a:t>from docx import Document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from docx.shared import Inches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from docx.enum.text import WD_PARAGRAPH_ALIGNMENT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doc = Document()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# Insert from file path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doc.add_picture('chart.png', width=Inches(4))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# Center-align the image paragraph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doc.paragraphs[-1].alignment = \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    WD_PARAGRAPH_ALIGNMENT.CENTER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doc.save('images.docx')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822960" cy="65836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F10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Save &amp; 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640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196F3"/>
                </a:solidFill>
              </a:rPr>
              <a:t>doc.save('output.docx')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A"/>
                </a:solidFill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E2A3A"/>
                </a:solidFill>
              </a:rPr>
              <a:t>▸ Saves the document to a .docx file on disk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Pass a file path string or any file-like object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BytesIO allows saving to memory (for web downloads)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The file is a standard .zip of XML — fully compatible with Word</a:t>
            </a:r>
          </a:p>
          <a:p>
            <a:pPr algn="l"/>
            <a:r>
              <a:rPr sz="1500">
                <a:solidFill>
                  <a:srgbClr val="1E2A3A"/>
                </a:solidFill>
              </a:rPr>
              <a:t>▸ No Microsoft Word needed to create or read the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1887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A"/>
                </a:solidFill>
              </a:rPr>
              <a:t>python-docx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508760"/>
            <a:ext cx="5852160" cy="46634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160020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A5D6A7"/>
                </a:solidFill>
                <a:latin typeface="Courier New"/>
              </a:rPr>
              <a:t>from docx import Document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from io import BytesIO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doc = Document()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doc.add_heading('Report', level=1)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doc.add_paragraph('Generated by python-docx.')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# Save to disk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doc.save('report.docx')</a:t>
            </a:r>
          </a:p>
          <a:p>
            <a:endParaRPr sz="1500">
              <a:solidFill>
                <a:srgbClr val="A5D6A7"/>
              </a:solidFill>
              <a:latin typeface="Courier New"/>
            </a:endParaRP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# Save to memory (e.g. for a web download)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buffer = BytesIO()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doc.save(buffer)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buffer.seek(0)</a:t>
            </a:r>
          </a:p>
          <a:p>
            <a:r>
              <a:rPr sz="1500">
                <a:solidFill>
                  <a:srgbClr val="A5D6A7"/>
                </a:solidFill>
                <a:latin typeface="Courier New"/>
              </a:rPr>
              <a:t># → send buffer as HTTP response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</a:rPr>
              <a:t>🖥️ 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196F3"/>
                </a:solidFill>
              </a:rPr>
              <a:t>Streamlit app — build a .docx document interactively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6576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</a:rPr>
              <a:t>✓  Set formatting options (bold, font, alignment)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✓  Add headings, paragraphs, lists, tables, images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✓  Live preview updates instantly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✓  Download the generated .docx file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Industry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657600" cy="19202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371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96F3"/>
                </a:solidFill>
              </a:rPr>
              <a:t>Finance &amp;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Auto-generate financial reports from data pipelines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657600" cy="19202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1371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371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96F3"/>
                </a:solidFill>
              </a:rPr>
              <a:t>HR &amp;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96596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Offer letters, contracts, employee onboarding docs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280160"/>
            <a:ext cx="3657600" cy="19202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371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⚖️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1371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96F3"/>
                </a:solidFill>
              </a:rPr>
              <a:t>Legal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96596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Templated NDAs, contracts, document assembly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74720"/>
            <a:ext cx="3657600" cy="19202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566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5661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96F3"/>
                </a:solidFill>
              </a:rPr>
              <a:t>Education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16052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Certificates, feedback forms, assignment generation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474720"/>
            <a:ext cx="3657600" cy="19202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34840" y="3566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5661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96F3"/>
                </a:solidFill>
              </a:rPr>
              <a:t>Publishing &amp; Docs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16052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Convert data outputs into formatted Word documents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73152" cy="5029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>
                <a:solidFill>
                  <a:srgbClr val="FFFFFF"/>
                </a:solidFill>
              </a:rPr>
              <a:t>→  python-docx gives you full control over Word documents from Python</a:t>
            </a:r>
          </a:p>
          <a:p>
            <a:pPr algn="l"/>
            <a:r>
              <a:rPr sz="1900">
                <a:solidFill>
                  <a:srgbClr val="FFFFFF"/>
                </a:solidFill>
              </a:rPr>
              <a:t>→  10 core features: create, headings, paragraphs, formatting, lists, tables, images, save</a:t>
            </a:r>
          </a:p>
          <a:p>
            <a:pPr algn="l"/>
            <a:r>
              <a:rPr sz="1900">
                <a:solidFill>
                  <a:srgbClr val="FFFFFF"/>
                </a:solidFill>
              </a:rPr>
              <a:t>→  No Microsoft Word needed — works anywhere Python runs</a:t>
            </a:r>
          </a:p>
          <a:p>
            <a:pPr algn="l"/>
            <a:r>
              <a:rPr sz="1900">
                <a:solidFill>
                  <a:srgbClr val="FFFFFF"/>
                </a:solidFill>
              </a:rPr>
              <a:t>→  Perfect for automating repetitive document tasks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5303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2196F3"/>
                </a:solidFill>
              </a:rPr>
              <a:t>python-docx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5897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556575"/>
                </a:solidFill>
              </a:rPr>
              <a:t>readthedocs.io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e432821-41d3-4015-8400-4ae6558dd28f}" enabled="1" method="Privileged" siteId="{8c7a02b0-b409-4a14-8332-6772575f453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1901</Words>
  <Application>Microsoft Office PowerPoint</Application>
  <PresentationFormat>Custom</PresentationFormat>
  <Paragraphs>316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Shesh kumar, Chandana</cp:lastModifiedBy>
  <cp:revision>1</cp:revision>
  <dcterms:created xsi:type="dcterms:W3CDTF">2013-01-27T09:14:16Z</dcterms:created>
  <dcterms:modified xsi:type="dcterms:W3CDTF">2026-06-16T13:49:41Z</dcterms:modified>
  <cp:category/>
</cp:coreProperties>
</file>